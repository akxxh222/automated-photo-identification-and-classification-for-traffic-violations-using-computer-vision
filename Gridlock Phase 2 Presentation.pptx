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Gridlock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7A2B8"/>
                </a:solidFill>
                <a:latin typeface="Calibri"/>
              </a:defRPr>
            </a:pPr>
            <a:r>
              <a:t>Automated Traffic Violation Detection &amp;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32004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B0CC"/>
                </a:solidFill>
                <a:latin typeface="Calibri"/>
              </a:defRPr>
            </a:pPr>
            <a:r>
              <a:t>Hackathon Submission | Computer Vision | Deep Learning |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BB"/>
                </a:solidFill>
                <a:latin typeface="Calibri"/>
              </a:defRPr>
            </a:pPr>
            <a:r>
              <a:t>A Single-Camera Pipeline: Detection → Evidence → Intelligence →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CD5E8"/>
                </a:solidFill>
                <a:latin typeface="Calibri"/>
              </a:defRPr>
            </a:pPr>
            <a:r>
              <a:t>India has 1.5M+ road accident fatalities per decade — one of the highest globally</a:t>
            </a:r>
          </a:p>
          <a:p>
            <a:pPr>
              <a:spcAft>
                <a:spcPts val="600"/>
              </a:spcAft>
              <a:defRPr sz="1800">
                <a:solidFill>
                  <a:srgbClr val="CCD5E8"/>
                </a:solidFill>
                <a:latin typeface="Calibri"/>
              </a:defRPr>
            </a:pPr>
            <a:r>
              <a:t>Traffic police rely on manual CCTV monitoring, which is slow, inconsistent, and unscalable</a:t>
            </a:r>
          </a:p>
          <a:p>
            <a:pPr>
              <a:spcAft>
                <a:spcPts val="600"/>
              </a:spcAft>
              <a:defRPr sz="1800">
                <a:solidFill>
                  <a:srgbClr val="CCD5E8"/>
                </a:solidFill>
                <a:latin typeface="Calibri"/>
              </a:defRPr>
            </a:pPr>
            <a:r>
              <a:t>Challenge: 7 distinct violation types across 6 heterogeneous datasets with 34 naming variants</a:t>
            </a:r>
          </a:p>
          <a:p>
            <a:pPr>
              <a:spcAft>
                <a:spcPts val="600"/>
              </a:spcAft>
              <a:defRPr sz="1800">
                <a:solidFill>
                  <a:srgbClr val="CCD5E8"/>
                </a:solidFill>
                <a:latin typeface="Calibri"/>
              </a:defRPr>
            </a:pPr>
            <a:r>
              <a:t>Automated solution must handle: class imbalance, cross-dataset label conflicts, real-time latency</a:t>
            </a:r>
          </a:p>
          <a:p>
            <a:pPr>
              <a:spcAft>
                <a:spcPts val="600"/>
              </a:spcAft>
              <a:defRPr sz="1800">
                <a:solidFill>
                  <a:srgbClr val="CCD5E8"/>
                </a:solidFill>
                <a:latin typeface="Calibri"/>
              </a:defRPr>
            </a:pPr>
            <a:r>
              <a:t>Target: Top-10 among 1,600 teams in this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7 violation types concurrently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Vehicle detection (8 classes)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License plate OCR (dual-engine)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93.9% mAP50 (triple riding)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201ms per frame end-to-end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463040"/>
            <a:ext cx="338328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19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Color-coded annotated frames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SHA-256 tamper-proof hashing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PDF challans with QR codes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Cryptographic verification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Per-violation evidence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63040"/>
            <a:ext cx="3383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Risk scoring (severity x freq x location x time)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DBSCAN hotspot clustering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Random Forest forecasting (8.0% MAPE)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Repeat offender tracking (30-day)</a:t>
            </a:r>
          </a:p>
          <a:p>
            <a:pPr>
              <a:spcAft>
                <a:spcPts val="1000"/>
              </a:spcAft>
              <a:defRPr sz="1400">
                <a:solidFill>
                  <a:srgbClr val="CCD5E8"/>
                </a:solidFill>
                <a:latin typeface="Calibri"/>
              </a:defRPr>
            </a:pPr>
            <a:r>
              <a:t>Officer deployment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10-Stage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097280"/>
            <a:ext cx="56692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11556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984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CLAHE · Bilateral Filter · Unsharp Mask · Gamma · 640x640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627631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67335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627631"/>
            <a:ext cx="42976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645919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Detection &amp;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799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YOLOv8m · ByteTrack · Trajectory · Speed · Dwell (8 classes)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57984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37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157984"/>
            <a:ext cx="56692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17627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7 Violation Detectors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35915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Helmet · Triple Riding · Wrong-Side · Red Light · Parking · Seatbelt (Concurrent)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688335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734055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688335"/>
            <a:ext cx="42976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706623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License Plate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889503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YOLOv8n · PaddleOCR · EasyOCR Fallback · Indian Regex · State Codes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18687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6440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218687"/>
            <a:ext cx="56692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236975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Evidence Generation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19855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Annotated Frames · SHA-256 Hash · QR-Coded PDF Challans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749039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7947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3749039"/>
            <a:ext cx="42976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76732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Risk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95020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Severity Scoring · DBSCAN Hotspots · Repeat Offenders (30-day)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79392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3251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4279392"/>
            <a:ext cx="56692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42976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Forecasting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4805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Random Forest 300 Trees · Seasonal Profile · 8.0% MAPE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4809744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485546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809744"/>
            <a:ext cx="42976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48280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Enforcement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50109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Rule-Based Resource Allocation · Officer Schedules · Daily APScheduler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340096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858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5340096"/>
            <a:ext cx="56692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535838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Command Dashboard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541264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Streamlit 7-Tab UI · Live Feed · Risk Map · Hotspots · Forecasts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5870448"/>
            <a:ext cx="4572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59161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5870448"/>
            <a:ext cx="4297680" cy="41148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588873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A2B8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607161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Per-Class P/R/F1/mAP · Latency Benchmarking · Forecast Accuracy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64190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All 7 detectors run concurrently via ThreadPoolExecutor(max_workers=6) — 201ms total per frame on RTX 3050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Training Results &amp;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21031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Triple Riding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A2B8"/>
                </a:solidFill>
                <a:latin typeface="Calibri"/>
              </a:defRPr>
            </a:pPr>
            <a:r>
              <a:t>93.9%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0CC"/>
                </a:solidFill>
                <a:latin typeface="Calibri"/>
              </a:defRPr>
            </a:pPr>
            <a:r>
              <a:t>mAP50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BB"/>
                </a:solidFill>
                <a:latin typeface="Calibri"/>
              </a:defRPr>
            </a:pPr>
            <a:r>
              <a:t>28 epochs, YOLOv8s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383280" cy="21031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Helmet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A2B8"/>
                </a:solidFill>
                <a:latin typeface="Calibri"/>
              </a:defRPr>
            </a:pPr>
            <a:r>
              <a:t>81.8%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0CC"/>
                </a:solidFill>
                <a:latin typeface="Calibri"/>
              </a:defRPr>
            </a:pPr>
            <a:r>
              <a:t>Best mAP50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BB"/>
                </a:solidFill>
                <a:latin typeface="Calibri"/>
              </a:defRPr>
            </a:pPr>
            <a:r>
              <a:t>31 epochs, 2 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383280" cy="21031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Plate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A2B8"/>
                </a:solidFill>
                <a:latin typeface="Calibri"/>
              </a:defRPr>
            </a:pPr>
            <a:r>
              <a:t>87.4%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743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0CC"/>
                </a:solidFill>
                <a:latin typeface="Calibri"/>
              </a:defRPr>
            </a:pPr>
            <a:r>
              <a:t>Best mAP50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17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BB"/>
                </a:solidFill>
                <a:latin typeface="Calibri"/>
              </a:defRPr>
            </a:pPr>
            <a:r>
              <a:t>37 epochs, YOLOv8n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3383280" cy="21031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84048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Vehicle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A2B8"/>
                </a:solidFill>
                <a:latin typeface="Calibri"/>
              </a:defRPr>
            </a:pPr>
            <a:r>
              <a:t>58.4%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0CC"/>
                </a:solidFill>
                <a:latin typeface="Calibri"/>
              </a:defRPr>
            </a:pPr>
            <a:r>
              <a:t>mAP50 (8 classes)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BB"/>
                </a:solidFill>
                <a:latin typeface="Calibri"/>
              </a:defRPr>
            </a:pPr>
            <a:r>
              <a:t>100+10 epochs, YOLOv8m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59" y="3840480"/>
            <a:ext cx="3383280" cy="21031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80559" y="384048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39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Violation 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39" y="43891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A2B8"/>
                </a:solidFill>
                <a:latin typeface="Calibri"/>
              </a:defRPr>
            </a:pPr>
            <a:r>
              <a:t>8.0%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0CC"/>
                </a:solidFill>
                <a:latin typeface="Calibri"/>
              </a:defRPr>
            </a:pPr>
            <a:r>
              <a:t>MAPE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39" y="5486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BB"/>
                </a:solidFill>
                <a:latin typeface="Calibri"/>
              </a:defRPr>
            </a:pPr>
            <a:r>
              <a:t>Random Forest 300 trees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840480"/>
            <a:ext cx="3383280" cy="21031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840480"/>
            <a:ext cx="33832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Inference Latency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3891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A2B8"/>
                </a:solidFill>
                <a:latin typeface="Calibri"/>
              </a:defRPr>
            </a:pPr>
            <a:r>
              <a:t>201ms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212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0CC"/>
                </a:solidFill>
                <a:latin typeface="Calibri"/>
              </a:defRPr>
            </a:pPr>
            <a:r>
              <a:t>Per frame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486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BB"/>
                </a:solidFill>
                <a:latin typeface="Calibri"/>
              </a:defRPr>
            </a:pPr>
            <a:r>
              <a:t>7 detectors + OCR concurrent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 Violation Detectors — Technical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8288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280160"/>
            <a:ext cx="22860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2984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80160"/>
            <a:ext cx="10972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98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280160"/>
            <a:ext cx="27432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2984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Training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280160"/>
            <a:ext cx="3749039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298448"/>
            <a:ext cx="36575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91640"/>
            <a:ext cx="11247120" cy="566928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Helmet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YOLOv8s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783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21.5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783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6,546 on / 4,427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783080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ROI crop around two-wheeler rider + pillion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11247120" cy="566928"/>
          </a:xfrm>
          <a:prstGeom prst="rect">
            <a:avLst/>
          </a:prstGeom>
          <a:solidFill>
            <a:srgbClr val="1E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23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Triple Riding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YOLOv8s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4231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85.4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2,870 / 1,493 / 1,865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423160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93.9% mAP50 — 3 classes: single, double, triple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71800"/>
            <a:ext cx="11247120" cy="566928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063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Wrong Side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Farneback Optical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063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063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Rule-based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063240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Dominant flow direction via cosine similarity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11879"/>
            <a:ext cx="11247120" cy="566928"/>
          </a:xfrm>
          <a:prstGeom prst="rect">
            <a:avLst/>
          </a:prstGeom>
          <a:solidFill>
            <a:srgbClr val="1E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70331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Red Light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37033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HSV + Debounce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70331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370331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Rule-based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703319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Configurable ROI + 3-frame debounce + stop-line check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51960"/>
            <a:ext cx="11247120" cy="566928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3434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Illegal Parking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4343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Zone + Dwell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43434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4343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Rule-based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4343400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Geo-fence polygon + 30s configurable threshold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892040"/>
            <a:ext cx="11247120" cy="566928"/>
          </a:xfrm>
          <a:prstGeom prst="rect">
            <a:avLst/>
          </a:prstGeom>
          <a:solidFill>
            <a:srgbClr val="1E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983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Seatbelt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31720" y="4983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MediaPipe Pose + Hough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49834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983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Heuristic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4983480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Diagonal edge response + graceful MediaPipe fallback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532119"/>
            <a:ext cx="11247120" cy="566928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62355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Plate OCR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31720" y="56235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YOLOv8n + PaddleOCR + EasyOCR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56235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6.0 MB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15000" y="562355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433 plates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5623559"/>
            <a:ext cx="365759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5E8"/>
                </a:solidFill>
                <a:latin typeface="Calibri"/>
              </a:defRPr>
            </a:pPr>
            <a:r>
              <a:t>Dual-engine OCR + Indian regex + 34 state codes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Cross-Dataset Label Harmonization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DD"/>
                </a:solidFill>
                <a:latin typeface="Calibri"/>
              </a:defRPr>
            </a:pPr>
            <a:r>
              <a:t>6 heterogeneous datasets unified via a declarative YAML alias system — 34 naming variants mapped to 8 canonical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828800"/>
            <a:ext cx="228600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1847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137160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470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828800"/>
            <a:ext cx="2286000" cy="320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47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94560"/>
            <a:ext cx="9144000" cy="384048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Bike Helmet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Roboflow YOLOv8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1,376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240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Helmet / No-Helmet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51760"/>
            <a:ext cx="9144000" cy="384048"/>
          </a:xfrm>
          <a:prstGeom prst="rect">
            <a:avLst/>
          </a:prstGeom>
          <a:solidFill>
            <a:srgbClr val="1E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97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Indian Vehicle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Roboflow YOLOv8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97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250+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Vehicle Types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108960"/>
            <a:ext cx="9144000" cy="384048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Triple Riding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3154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Roboflow YOLOv8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154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6,000+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154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Rider Counting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66160"/>
            <a:ext cx="9144000" cy="384048"/>
          </a:xfrm>
          <a:prstGeom prst="rect">
            <a:avLst/>
          </a:prstGeom>
          <a:solidFill>
            <a:srgbClr val="1E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Car License Plate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40" y="3611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Pascal VOC XML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611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433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611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ALPR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9144000" cy="384048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069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Pedestrian Dataset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Roboflow YOLOv8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0690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1,318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Pedestrian Class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480560"/>
            <a:ext cx="9144000" cy="384048"/>
          </a:xfrm>
          <a:prstGeom prst="rect">
            <a:avLst/>
          </a:prstGeom>
          <a:solidFill>
            <a:srgbClr val="1E3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Traffic Violation Kaggle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4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CSV Time-Series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526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95K rows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Forecasting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029200"/>
            <a:ext cx="4389120" cy="146304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5029200"/>
            <a:ext cx="438912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166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Final Training Corpus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4864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3,109 vehicle images (8 classes)</a:t>
            </a:r>
          </a:p>
          <a:p>
            <a:pPr>
              <a:spcAft>
                <a:spcPts val="2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5,415 helmet images (2 classes)</a:t>
            </a:r>
          </a:p>
          <a:p>
            <a:pPr>
              <a:spcAft>
                <a:spcPts val="2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7,889 triple riding images (3 classes)</a:t>
            </a:r>
          </a:p>
          <a:p>
            <a:pPr>
              <a:spcAft>
                <a:spcPts val="2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433 license plate images (1 class)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60" y="5029200"/>
            <a:ext cx="6035040" cy="146304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94960" y="5029200"/>
            <a:ext cx="603504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51663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Key Innovation: Missing Class Generation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54864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3 classes had zero training samples (pedestrian, rider, pillion)</a:t>
            </a:r>
          </a:p>
          <a:p>
            <a:pPr>
              <a:spcAft>
                <a:spcPts val="2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COCO-pretrained YOLOv8n bootstraps labels via person + vehicle bbox overlap</a:t>
            </a:r>
          </a:p>
          <a:p>
            <a:pPr>
              <a:spcAft>
                <a:spcPts val="2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Generated: 10,074 pedestrian + 9 rider + 124 pillion annotations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Demo: End-to-End Processing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280160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298448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Input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36192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Traffic camera feed or video file → 640×640 letterbox resize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39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920239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938527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76271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YOLOv8m detects all vehicles (8 classes). ByteTrack assigns unique IDs and tracks trajectories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33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560320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578608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Violation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16352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7 detectors run concurrently — helmet checks two-wheeler ROIs, triple riding counts riders, etc.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00399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7355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200399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218687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Plate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56431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YOLOv8n crops plate region → PaddleOCR reads text → regex validates Indian format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79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9136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3840479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3858767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096511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Annotated frame (red bboxes = violation, green = safe) + SHA-256 hash + PDF challan with QR code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80560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553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4480560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4498848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Risk 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736592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Violation logged with severity weight × location multiplier × time weight. DBSCAN clusters hotspots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937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5120640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5138928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Forecast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376672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Random Forest predicts next 7 days. Enforcement plan auto-generated with officer allocations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60719"/>
            <a:ext cx="457200" cy="5029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83387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80160" y="5760719"/>
            <a:ext cx="10149840" cy="50292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779007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A2B8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6016751"/>
            <a:ext cx="9966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BBDD"/>
                </a:solidFill>
                <a:latin typeface="Calibri"/>
              </a:defRPr>
            </a:pPr>
            <a:r>
              <a:t>Streamlit UI shows live feed, risk map (Folium), hotspot analysis, forecast chart, offender registry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219456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Detection &amp;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YOLOv8 (Ultralytics)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ByteTrack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MediaPipe Pose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219456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371600"/>
            <a:ext cx="25603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874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PaddleOCR (Primary)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EasyOCR (Fallback)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Indian Plate Regex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219456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5603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74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FastAPI (9 Endpoints)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SQLAlchemy ORM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APScheduler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SQLite / 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219456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5603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 &amp;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87452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Scikit-learn RF (300 trees)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NumPy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Pandas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DBSCAN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2560320" cy="219456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25603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Streamlit (7-tab UI)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Folium (Risk Map)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Altair (Charts)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CSS3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931920"/>
            <a:ext cx="2560320" cy="219456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3931920"/>
            <a:ext cx="25603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Security &amp;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4348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SHA-256 Hashing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QR Codes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ReportLab PDF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API Key Auth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931920"/>
            <a:ext cx="2560320" cy="219456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56032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977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4348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Docker (3GB image)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Python 3.10+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Makefile</a:t>
            </a:r>
          </a:p>
          <a:p>
            <a:pPr>
              <a:spcAft>
                <a:spcPts val="800"/>
              </a:spcAft>
              <a:defRPr sz="1300">
                <a:solidFill>
                  <a:srgbClr val="CCD5E8"/>
                </a:solidFill>
                <a:latin typeface="Calibri"/>
              </a:defRPr>
            </a:pPr>
            <a:r>
              <a:t>CUDA 11.8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t>Label Harmonization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alibri"/>
              </a:defRPr>
            </a:pPr>
            <a:r>
              <a:t>34 aliases across 6 datasets mapped to 8 canonical classes via declarative YAML. Adding a new dataset means extending the alias map — no manual relabeling.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39"/>
            <a:ext cx="731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39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t>Concurrent Detection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7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alibri"/>
              </a:defRPr>
            </a:pPr>
            <a:r>
              <a:t>7 violation detectors + OCR running simultaneously via ThreadPoolExecutor. 201ms per frame total — judges will see real-time responsiveness.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731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t>Dual-Engine OCR with Indian Plate Regex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alibri"/>
              </a:defRPr>
            </a:pPr>
            <a:r>
              <a:t>PaddleOCR (primary) + EasyOCR (fallback) with Indian plate format validation covering 34 state codes. Position-aware OCR correction for common misreads.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731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t>Tamper-Proof Evidence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alibri"/>
              </a:defRPr>
            </a:pPr>
            <a:r>
              <a:t>Every challan includes annotated frame, SHA-256 hash, and QR code. Cryptographic verification — evidence is verifiable independently from the 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79"/>
            <a:ext cx="731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79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t>Predictive Enforcement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19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alibri"/>
              </a:defRPr>
            </a:pPr>
            <a:r>
              <a:t>Random Forest forecaster (8.0% MAPE) drives proactive officer deployment. Not just reactive violation logging — we tell police where to be tomorrow.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23560"/>
            <a:ext cx="73152" cy="7315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A2B8"/>
                </a:solidFill>
                <a:latin typeface="Calibri"/>
              </a:defRPr>
            </a:pPr>
            <a:r>
              <a:t>Zero-Shot Class Bootstrapping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9436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CDD"/>
                </a:solidFill>
                <a:latin typeface="Calibri"/>
              </a:defRPr>
            </a:pPr>
            <a:r>
              <a:t>3 of 8 vehicle classes had zero training data. COCO-pretrained model generated 10,000+ labels via person + vehicle overlap heuristics, enabling unified 8-class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99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560320" cy="457200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TensorRT model optimization (40ms target, 5x improvement)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Multi-camera ReID for cross-junction vehicle tracking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Configurable traffic light ROI per camera via JSON zones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99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2560320" cy="457200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659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Supervised seatbelt detector with labeled dataset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Expand rider/pillion data via targeted dataset sourcing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JWT/OAuth2 authentication with key rotation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99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560320" cy="457200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Real-time WebSocket dashboard for sub-second alerts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Automated CI/CD (GitHub Actions → Docker Registry → Deploy)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V2I integration with traffic signal controllers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4114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399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2560320" cy="4572000"/>
          </a:xfrm>
          <a:prstGeom prst="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Indian state-specific plate format variants (tractor, trailer, embassy)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Kubernetes deployment with GPU node auto-scaling</a:t>
            </a:r>
          </a:p>
          <a:p>
            <a:pPr>
              <a:spcAft>
                <a:spcPts val="1000"/>
              </a:spcAft>
              <a:defRPr sz="1200">
                <a:solidFill>
                  <a:srgbClr val="CCD5E8"/>
                </a:solidFill>
                <a:latin typeface="Calibri"/>
              </a:defRPr>
            </a:pPr>
            <a:r>
              <a:t>City-wide traffic command center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926080"/>
            <a:ext cx="2103120" cy="36576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7A2B8"/>
                </a:solidFill>
                <a:latin typeface="Calibri"/>
              </a:defRPr>
            </a:pPr>
            <a:r>
              <a:t>Gridlock AI — Automated Traffic Violation Detection &amp;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7A2B8"/>
                </a:solidFill>
                <a:latin typeface="Calibri"/>
              </a:defRPr>
            </a:pPr>
            <a:r>
              <a:t>https://github.com/akxxh222/Automated-Photo-Identification-and-Classification-for-Traffic-Violations-Using-Computer-Vision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